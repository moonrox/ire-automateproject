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7FD"/>
                </a:solidFill>
                <a:latin typeface="Calibri"/>
              </a:rPr>
              <a:t>Intel Confidential  ·  IRE Team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IRE PowerAutomate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7FD"/>
                </a:solidFill>
                <a:latin typeface="Calibri"/>
              </a:rPr>
              <a:t>Automate SharePoint · OneNote · draw.io via Microsoft Graph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Calibri"/>
              </a:rPr>
              <a:t>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1280160" cy="38404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387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3C71"/>
                </a:solidFill>
                <a:latin typeface="Calibri"/>
              </a:rPr>
              <a:t>v1.0.0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John Monroe  ·  john.monroe@intel.com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486400" cy="5303520"/>
          </a:xfrm>
          <a:prstGeom prst="rect">
            <a:avLst/>
          </a:prstGeom>
          <a:solidFill>
            <a:srgbClr val="F2F2F2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2120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Part 1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Project Overview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Architecture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SharePoint Integration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OneNote Integration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draw.io Diagram Generator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Project Diagram Uploader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Authentication (MSAL + DPAPI)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43000"/>
            <a:ext cx="5486400" cy="5303520"/>
          </a:xfrm>
          <a:prstGeom prst="rect">
            <a:avLst/>
          </a:prstGeom>
          <a:solidFill>
            <a:srgbClr val="F2F2F2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Part 2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Version &amp; History Tracking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Feature: Test Suite (34 tests)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SharePoint Field Reference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Security Overview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Quick Start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VS Code Tasks</a:t>
            </a:r>
          </a:p>
          <a:p>
            <a:pPr algn="l">
              <a:spcBef>
                <a:spcPts val="2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•  Change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IRE PowerAutomate Toolkit — Python + PowerShell automation for Intel M365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Automates reading &amp; writing of the IRE Project Tracking SharePoint list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Reads and writes to the IE OneNote notebook (Teams-hosted)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Generates draw.io diagrams from live SharePoint data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Uploads per-project diagram cards directly to SharePoint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No app registration or admin service account required — runs as you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Secure token caching via MSAL + Windows DPAPI encryption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Full execution history log (history.jsonl)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34-test pytest suite covering all core modules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333333"/>
                </a:solidFill>
                <a:latin typeface="Calibri"/>
              </a:rPr>
              <a:t>•  VS Code tasks for all common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2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PowerShell 5.1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Microsoft Graph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draw.io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SharePoint Online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OneNote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27080" y="6035040"/>
            <a:ext cx="1417320" cy="256032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27080" y="6035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92024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.env  (config)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3444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075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graph_auth.py
MSAL + DPAPI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3444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0759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version.py
history.jsonl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677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IRE-SharePoint.py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19456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2677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IRE-OneNote.py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19456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677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IRE-DrawIO.py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9456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677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project_diagram.py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94560"/>
            <a:ext cx="182880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267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hello.py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54680"/>
            <a:ext cx="1920240" cy="594360"/>
          </a:xfrm>
          <a:prstGeom prst="rect">
            <a:avLst/>
          </a:prstGeom>
          <a:solidFill>
            <a:srgbClr val="E1D5E7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2278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IRE-SharePoint.ps1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154680"/>
            <a:ext cx="1920240" cy="594360"/>
          </a:xfrm>
          <a:prstGeom prst="rect">
            <a:avLst/>
          </a:prstGeom>
          <a:solidFill>
            <a:srgbClr val="E1D5E7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2278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IRE-OneNote.ps1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154680"/>
            <a:ext cx="1920240" cy="594360"/>
          </a:xfrm>
          <a:prstGeom prst="rect">
            <a:avLst/>
          </a:prstGeom>
          <a:solidFill>
            <a:srgbClr val="FFE6C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22783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drawio.py
DiagramBuilder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160520"/>
            <a:ext cx="3840480" cy="640080"/>
          </a:xfrm>
          <a:prstGeom prst="rect">
            <a:avLst/>
          </a:prstGeom>
          <a:solidFill>
            <a:srgbClr val="DAE8F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423367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C71"/>
                </a:solidFill>
                <a:latin typeface="Calibri"/>
              </a:rPr>
              <a:t>Microsoft Graph API
graph.microsoft.com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74920"/>
            <a:ext cx="1920240" cy="594360"/>
          </a:xfrm>
          <a:prstGeom prst="rect">
            <a:avLst/>
          </a:prstGeom>
          <a:solidFill>
            <a:srgbClr val="DAE8F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48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SharePoint
Project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074920"/>
            <a:ext cx="1920240" cy="594360"/>
          </a:xfrm>
          <a:prstGeom prst="rect">
            <a:avLst/>
          </a:prstGeom>
          <a:solidFill>
            <a:srgbClr val="DAE8FC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148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OneNote
IE Notebook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5074920"/>
            <a:ext cx="192024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5148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draw.io
drawio-ai.intel.com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5074920"/>
            <a:ext cx="192024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5148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projects.json
(local index)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1508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Calibri"/>
              </a:rPr>
              <a:t>loads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187451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Calibri"/>
              </a:rPr>
              <a:t>token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611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Calibri"/>
              </a:rPr>
              <a:t>→ Graph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SharePoint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IRE-SharePoint.ps1  ·  IRE-SharePoint.py  ·  Microsoft Graph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7150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Capabilities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Get all project items (paginated, ordered by Created desc)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Create new project items with full field set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Update existing items (PATCH /fields)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Delete items with confirmation prompt (Type YES to confirm)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Filter items by Status, Priority, Segment, or Phase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Resolve People/PersonOrGroup fields via User Information List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Silent token refresh — no repeated browser sign-ins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PowerShell + Python implementations 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852160" cy="292608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16152"/>
            <a:ext cx="566928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PowerShell
.\IRE-SharePoint.ps1 -Action GetItems
.\IRE-SharePoint.ps1 -Action CreateItem `
  -Title "My Project" `
  -Priority "High" `
  -Status "New" `
  -Segment "Network"
.\IRE-SharePoint.ps1 -Action DeleteItem -ItemId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206240"/>
            <a:ext cx="585216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2976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List Fields:
Title · Status · Priority
Segment · Projectphase
ManagerReview · ProjectSummaryDetails
AssignedTo (lookup 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OneNote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IRE-OneNote.ps1  ·  Teams-hosted IE Notebook  ·  Microsoft Graph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7150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Capabilities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Auto-resolve the IE notebook from the IRE Teams site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Find or auto-create the current month section (e.g. May 2026)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Find or auto-create the current Intel WW page (e.g. WW22)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Append HTML content to an existing page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Create a new page with structured HTML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List all sections in the notebook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Target any WW / section by name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Intel Work Week (WW) calculation — starts Sunday, WW1 ⊇ Jan 1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Requires Notes.ReadWrite.All (IT admin one-time approval)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852160" cy="502920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16152"/>
            <a:ext cx="5669280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Get or create today's WW page
.\IRE-OneNote.ps1 -Action GetPage
# Append an HTML update
.\IRE-OneNote.ps1 -Action AppendToPage `
  -Content "&lt;p&gt;My update&lt;/p&gt;"
# Create a page in a future section
.\IRE-OneNote.ps1 -Action CreatePage `
  -Title "WW23" `
  -SectionName "June 2026" `
  -Content "&lt;h1&gt;WW23&lt;/h1&gt;"
.\IRE-OneNote.ps1 -Action ListSections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draw.io Diagram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IRE-DrawIO.py  ·  drawio.py (DiagramBuilder)  ·  Intel draw.io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DiagramBuilder Capabilities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DiagramBuilder — pure stdlib, no external deps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Add shapes (boxes) with custom styles, tooltips, geometry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Add directed edges with labels and arrow styles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Add text notes and swimlane column headers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Kanban status board layout (columns × items)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Per-project card layout (title, status row, notes, footer)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Export to standard .drawio XML format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Save to file — openable in Intel draw.io 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9436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5715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CLI Actions (IRE-DrawIO.py)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project-status  — Kanban board from live SharePoint data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architecture     — Static IRE toolkit architecture diagram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project           — Generate &amp; upload diagram for one item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open               — Launch Intel draw.io in browser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--open flag        — Opens browser after saving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--output           — Custom output path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Intel draw.io URL: drawio-ai.intel.com (SSO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Project Diagram Uploader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project_diagram.py — Auto-generate, upload &amp; link diagrams to SharePoint list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3291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Upload Pipeline (7 Steps)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1. Ensure 'Diagrams' folder exists in the SharePoint site drive (idempotent)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2. Ensure 'DiagramUrl' text column exists on the list (idempotent, graceful 403)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3. Build per-project card diagram (title bar, status/priority/phase row, notes, footer)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4. Upload .drawio XML to SharePoint  →  returns webUrl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5. PATCH the list item's DiagramUrl field with the SharePoint URL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6. Save a local copy to diagrams/ folder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7. Update projects.json index (title, status, filename, url, timestamp)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572000"/>
            <a:ext cx="5669280" cy="201168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645152"/>
            <a:ext cx="54864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Standalone CLI
python project_diagram.py --item-id 42
# One-time column provisioning (admin)
python project_diagram.py --setup-column
# View local projects index
python project_diagram.py --show
# Called automatically by IRE-DrawIO.py:
python IRE-DrawIO.py project  --item-id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572000"/>
            <a:ext cx="585216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6634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Notes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projects.json tracks all generated diagrams locally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Safe filename: strips invalid chars, max 50 chars + item ID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Conflict behaviour: overwrite (PUT replaces existing file)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Gracefully skips DiagramUrl update if column not provisioned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graph_auth.py — MSAL DeviceCodeCredential + DPAPI token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Device Code Flow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1  First run — print device code URL + short code to console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2  User visits https://login.microsoft.com/device and signs in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3  Script polls until sign-in completes; exchanges code for tokens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4  Access token + refresh token stored in DPAPI-encrypted .bin cache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5  Subsequent runs — MSAL silently refreshes using cached refresh token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Step 6  No repeated browser prompts — works even after access token expires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114800"/>
            <a:ext cx="1170432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605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Cache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60520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IRE-drawio / IRE-sharepoint /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97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89704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%APPDATA%\  (user-profile scoped)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188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18888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Windows DPAPI — only your Windows login can decrypt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480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MSAL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48072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msal + msal-extensions (SerializableTokenCache)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772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77256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Sites.ReadWrite.All  (SharePoint read/write)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064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Client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806440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14d82eec-204b-4c2f-b7e8-296a70dab67e  (Graph PowerShell SDK)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3562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Admin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135624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Not required for Sites.ReadWrite.All (delegated)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Version &amp; History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version.py  ·  history.jsonl — Centralised execution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Capabilities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__version__ = '1.0.0'  — single source of version truth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log_run(script, action, details, success)  — appends JSON line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Each entry records: timestamp, version, script, action, details, success, user, host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history.jsonl — one JSON object per line, append-safe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show_history(n)  — formatted last-N entries to console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show_changelog()  — full CHANGELOG printed to console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CLI: python version.py --history 20  |  --changelog  |  --log ...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All scripts call log_run() on every run (success or failure)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892040"/>
            <a:ext cx="11704320" cy="173736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965192"/>
            <a:ext cx="1152144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$ python version.py
  IRE PowerAutomate Scripts  v1.0.0
  ────────────────────────────────────────────────────────────
  Execution History  (last 10 of 47 entries)
  ────────────────────────────────────────────────────────────
  ✅  2026-05-30T06:05:12   IRE-DrawIO.py:architecture
       architecture.drawio
  ✅  2026-05-30T05:58:43   IRE-SharePoint.py:CreateItem
       title=My Project → id=48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Feature: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pytest  ·  34 tests  ·  100% pass rate  ·  No network calls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TestXmlStructure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34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Root element, reserved cells, page sizes, XML declaration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013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TestAddShape (8)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01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ID uniqueness, attributes, geometry, styles, tooltip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682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TestAddEdge 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6829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Source/target, labels, styles, relative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352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TestNoteAndHeader (2)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352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Note style, column header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021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TestStatusBoard (4)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02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Header + item count, status styles, empty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69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TestConstants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0690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Priority icons, status style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TestArchitectureDiagram (3)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36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Builds without error, valid XML, expected shapes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2029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C5"/>
                </a:solidFill>
                <a:latin typeface="Calibri"/>
              </a:rPr>
              <a:t>TestSaveAndDelete (5)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0293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File creation, valid XML, content, delete, nested dirs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36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A00"/>
                </a:solidFill>
                <a:latin typeface="Calibri"/>
              </a:rPr>
              <a:t>✅  34 passed  ·  0 failed  ·  0.85s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SharePoint Field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IRE Project Tracking List  ·  All fields supported by the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21031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43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Internal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170432"/>
            <a:ext cx="192024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2435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Display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70432"/>
            <a:ext cx="109728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435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170432"/>
            <a:ext cx="62179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243584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645920"/>
            <a:ext cx="21031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7007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Title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645920"/>
            <a:ext cx="192024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7007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645920"/>
            <a:ext cx="10972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700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645920"/>
            <a:ext cx="62179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700784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Any 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121408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1762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121408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2176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121408"/>
            <a:ext cx="1097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1762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Choice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121408"/>
            <a:ext cx="6217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217627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New  ·  In progress  ·  Blocked  ·  Completed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596896"/>
            <a:ext cx="21031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651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Priority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2596896"/>
            <a:ext cx="192024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2651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596896"/>
            <a:ext cx="10972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6517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Choice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596896"/>
            <a:ext cx="62179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265176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High  ·  Normal  ·  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072384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1272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Segment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072384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3160" y="31272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Segment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072384"/>
            <a:ext cx="1097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31272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Choice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072384"/>
            <a:ext cx="6217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312724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Network  ·  Compute  ·  Cloud  · 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547872"/>
            <a:ext cx="21031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602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Projectphase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3547872"/>
            <a:ext cx="192024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36027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Project Phase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3547872"/>
            <a:ext cx="10972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360273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Choice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3547872"/>
            <a:ext cx="62179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2120" y="3602736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Analysis  ·  Planning  ·  Execution  ·  Closure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023360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0782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ManagerReview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4023360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23160" y="40782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Manager Review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4023360"/>
            <a:ext cx="1097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0" y="40782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Boolean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4023360"/>
            <a:ext cx="6217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2120" y="4078224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true  /  false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4498848"/>
            <a:ext cx="21031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4553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ProjectSummaryDetails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4498848"/>
            <a:ext cx="192024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23160" y="45537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Project Summary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43400" y="4498848"/>
            <a:ext cx="10972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0" y="45537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0" y="4498848"/>
            <a:ext cx="62179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2120" y="455371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Free text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4974336"/>
            <a:ext cx="2103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Assignedto0LookupId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77440" y="4974336"/>
            <a:ext cx="1920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23160" y="5029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Assigned To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43400" y="4974336"/>
            <a:ext cx="1097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0" y="50292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Lookup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0" y="4974336"/>
            <a:ext cx="6217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32120" y="502920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Integer user ID (query User Info List)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5449824"/>
            <a:ext cx="21031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DiagramUrl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440" y="5449824"/>
            <a:ext cx="192024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3160" y="5504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Diagram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43400" y="5449824"/>
            <a:ext cx="10972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0" y="55046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Text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0" y="5449824"/>
            <a:ext cx="621792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32120" y="550468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SharePoint webUrl (set by project_diagram.py)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Token handling, DPAPI encryption, secrets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216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Secrets in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216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None — only public client IDs and internal site/list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282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7282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Refresh token encrypted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Windows DPAPI — only your Windows login can decrypt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40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Token files gitignored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*.bin, .sp_token_cache.bin, history.jsonl in .gitignore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523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75234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Delete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523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Script prompts "Type YES to confirm" before any deletion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644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2644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No service 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264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Runs as the authenticated user (delegated auth)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76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No app registration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7764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Uses Microsoft's own pre-authorized public client 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28853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2885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Access token in APPDATA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288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Short-lived (~1hr), plaintext but user-scoped folder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800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00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Scope breadth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800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Sites.ReadWrite.All — ask IT to scope to Sites.Selected if desired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31266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1266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C5"/>
                </a:solidFill>
                <a:latin typeface="Calibri"/>
              </a:rPr>
              <a:t>Notes.ReadWrite.All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3126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IT admin one-time consent required for OneNote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Get up and running in under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C5"/>
                </a:solidFill>
                <a:latin typeface="Calibri"/>
              </a:rPr>
              <a:t>Setup Steps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→  1.  Clone or copy the IRE-AutomateProject folder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→  2.  Copy .env.example → .env  and fill in CLIENT_ID, TENANT_ID, SITE_ID, LIST_ID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→  3.  python -m venv .venv  then  .venv\Scripts\activate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→  4.  pip install -r requirements.txt</a:t>
            </a:r>
          </a:p>
          <a:p>
            <a:pPr algn="l">
              <a:spcBef>
                <a:spcPts val="2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→  5.  python hello.py  →  browser sign-in; token cached for all future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474720"/>
            <a:ext cx="5669280" cy="265176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547872"/>
            <a:ext cx="54864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Read SharePoint list
python IRE-SharePoint.py get-items
# Generate Kanban diagram
python IRE-DrawIO.py project-status --open
# Generate architecture diagram
python IRE-DrawIO.py architecture --open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474720"/>
            <a:ext cx="5852160" cy="2651760"/>
          </a:xfrm>
          <a:prstGeom prst="rect">
            <a:avLst/>
          </a:prstGeom>
          <a:solidFill>
            <a:srgbClr val="1E1E1E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547872"/>
            <a:ext cx="566928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# OneNote — append to today's WW page
.\IRE-OneNote.ps1 -Action AppendToPage `
  -Content "&lt;p&gt;Update here&lt;/p&gt;"
# View execution history
python version.py --history 20
# Run tests
pytest tests\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VS Code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Ctrl+Shift+P → Tasks: Run Task — all common workflows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8930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PAC: Authenticate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2588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Sign in to Power Platform (pac auth create)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2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836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PAC: Init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Initialize a new PAC solution locally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47802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PAC: Export IRE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1460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Pull latest flows from Power Platform →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7238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PAC: Import IRE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0896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Push local solution to Power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66674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Trigger Flow via HTTP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70332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Run a flow by pasting its HTTP trigger 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6110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Run pytest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9768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Execute the full test suite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4632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8554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Show Version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89204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python version.py --history 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440680"/>
            <a:ext cx="3017520" cy="4754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44982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 draw.io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48640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python IRE-DrawIO.py open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Common errors and how to fix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2194560" cy="38404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170432"/>
            <a:ext cx="2743200" cy="38404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188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1170432"/>
            <a:ext cx="6492240" cy="38404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188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00200"/>
            <a:ext cx="219456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45920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401 Unauthorized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600200"/>
            <a:ext cx="274320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645920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Token expired; refresh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600200"/>
            <a:ext cx="649224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645920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Delete .bin cache file and re-run to re-authenticate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12264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403 Forbidden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112264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2157984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Insufficient permissions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2112264"/>
            <a:ext cx="6492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157984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Verify Contribute access on SharePoint list or Notes.ReadWrite.All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24328"/>
            <a:ext cx="219456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670048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400 Bad Request PATCH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624328"/>
            <a:ext cx="274320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670048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Special chars in JSON (PowerShell)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2624328"/>
            <a:ext cx="649224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2670048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Use raw UTF-8 bytes HttpWebRequest instead of Invoke-RestMethod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36392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182112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AADSTS65002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3136392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3182112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Intel blocked this Client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3136392"/>
            <a:ext cx="6492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3182112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Use 14d82eec-... (Graph PowerShell SDK), not Azure PowerShell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48456"/>
            <a:ext cx="219456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694176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People field 400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648456"/>
            <a:ext cx="274320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3694176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Used email address in payload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3648456"/>
            <a:ext cx="649224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694176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Query User Info List first; use the integer lookup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60520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206240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Choice field 400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4160520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4206240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Invalid choice 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4160520"/>
            <a:ext cx="6492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0" y="4206240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Must exactly match list values (e.g., 'Normal' not 'Medium')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72584"/>
            <a:ext cx="219456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18304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404 on notebook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14600" y="4672584"/>
            <a:ext cx="274320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4718304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Wrong notebook name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4672584"/>
            <a:ext cx="649224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4718304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Run -Action ListSections to see actual notebook names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184648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230368"/>
            <a:ext cx="21031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pac not recognized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4600" y="5184648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5230368"/>
            <a:ext cx="26517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PATH not updated after install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5184648"/>
            <a:ext cx="6492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5230368"/>
            <a:ext cx="6400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Open a new terminal window to reload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Change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7FD"/>
                </a:solidFill>
                <a:latin typeface="Calibri"/>
              </a:rPr>
              <a:t>CHANGELOG — sourced from version.py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IRE PowerAutomate Toolkit  ·  v1.0.0  ·  Intel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2286000" cy="41148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v1.0.0  —  2026-05-30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Initial Python port of IRE-SharePoint.ps1 and IRE-OneNote.ps1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graph_auth.py — MSAL DeviceCodeCredential with DPAPI-backed token cache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.env configuration — hardcoded values removed from all scripts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.gitignore covering secrets, token caches, and history log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version.py — centralised version tracking and execution history (history.jsonl)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drawio.py — DiagramBuilder for generating .drawio XML (stdlib only)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IRE-DrawIO.py — CLI tool: project-status, architecture, project, open actions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project_diagram.py — per-project card generation + SharePoint upload + projects.json index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tests/test_drawio.py — 34-test pytest suite covering DiagramBuilder and architecture diagram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Rebuilt .venv with Python 3.11 (previous venv pointed to renamed project folder)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➜  Added build_presentation.py — this PowerPoint deck auto-generated from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Future versions will appear here as the toolkit evolves.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7FD"/>
                </a:solidFill>
                <a:latin typeface="Calibri"/>
              </a:rPr>
              <a:t>Intel Confidential  ·  IRE Team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7FD"/>
                </a:solidFill>
                <a:latin typeface="Calibri"/>
              </a:rPr>
              <a:t>Questions?  Feedback?  Contributions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John Monroe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935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7FD"/>
                </a:solidFill>
                <a:latin typeface="Calibri"/>
              </a:rPr>
              <a:t>john.monroe@intel.com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410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IRE Team — Intel Corporation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8853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7F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360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Repository: C:\Users\JMONROE1\IRE-AutomateProject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draw.io:    https://drawio-ai.intel.com/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30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Graph API:  https://graph.microsoft.com/v1.0/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